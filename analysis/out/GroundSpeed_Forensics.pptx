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roles from README.md. Analysis code: analysis/ (run_all.py).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as found in the code, not assumed. Velocity is primary; distance is integrated from the filtered velocity.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history: a9e3712 initial, 379dcfd 19:41 (whole project), aa0d32a 02:12 (all fixes), ef48eaa 02:25 (data + write-up). Intermediate builds are only visible through what they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19:41 code stored the LiDAR depth along the optical axis as the height; FlowConverter then divided by cos θ again. Error factor 1/cos²θ.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 refit: least squares over the six 16 ft runs; the scale for each run is applied by replaying its logged sensors through the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= replayed final-calibration distance − tape length. In-sample: calibration fitted on the same 6 runs. Leave-one-out: each run predicted with constants fitted on the other 5. t-based 95% CI on the mean and 95% prediction interval for a new run, n =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= GPS Doppler speed (iOS CLLocation.speed), 1 Hz, shifted by the fitted 0.65 s lag. Estimate = filter replayed WITHOUT GPS updates, so the comparison is independent. Envelope = GPS 2–11.2 m/s before the first &gt;25 mph excursion. Errors are autocorrelated: CIs use a moving-block bootstrap.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Vectorised ReferenceKF4 was checked against the scalar port on real runs (max difference 9e-16 m/s). Each trial uses one recorded run's timestamps, PSR sequence and ZUPT times; only the measurements are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109728" cy="23774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Open Ground Speed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515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C9D6E3"/>
                </a:solidFill>
                <a:latin typeface="Calibri"/>
              </a:rPr>
              <a:t>A forensic reconstruction of one night of testing: what broke, what we fixed, and how accurate it really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Objective: turn an iPhone (camera + torch + LiDAR + IMU + GPS) on a cart or car into an optical ground-speed and distance sensor, like a commercial Correvit, with a Kalman filter running on the 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515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MHacks 2026 · team repository davidzonavirus/kalman-hackathon-26 (app: David · Kalman filter: Joseph · dashboard: Sean)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Independent re-analysis of all 58 recorded runs, rebuilt from code, logs and git history · every number traceable to analysis/out/final_metrics.json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An iPhone looking at the floor, fused by a 4-state Kalman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README.md, docs/HACKATHON_WRITEUP.md §2, docs/KALMAN_INTEGRATION.md, SensorFusionEngine.swift, FlowConverter.swift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55448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85623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1280×720 @ 240 fps, torch, exposure ≤ 1/1000 s; 256² centre crop → 128²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1988820"/>
            <a:ext cx="256032" cy="0"/>
          </a:xfrm>
          <a:prstGeom prst="line">
            <a:avLst/>
          </a:prstGeom>
          <a:ln w="22225">
            <a:solidFill>
              <a:srgbClr val="5F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2032" y="150876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55448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Phase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185623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image shift (px/frame) + quality PSR (peak-to-sidelobe ratio)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25112" y="1988820"/>
            <a:ext cx="256032" cy="0"/>
          </a:xfrm>
          <a:prstGeom prst="line">
            <a:avLst/>
          </a:prstGeom>
          <a:ln w="22225">
            <a:solidFill>
              <a:srgbClr val="5F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81144" y="150876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155448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Shift → velocity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185623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v = shift·2·h / (f·Δt); h from LiDAR, f from lens FOV; gyro de-rotation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64224" y="1988820"/>
            <a:ext cx="256032" cy="0"/>
          </a:xfrm>
          <a:prstGeom prst="line">
            <a:avLst/>
          </a:prstGeom>
          <a:ln w="22225">
            <a:solidFill>
              <a:srgbClr val="5F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20256" y="150876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55448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Kalman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5623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x = [vₓ, v_y, bₓ, b_y]; IMU 100 Hz predict; flow, GPS speed, zero-velocity updates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03336" y="1988820"/>
            <a:ext cx="256032" cy="0"/>
          </a:xfrm>
          <a:prstGeom prst="line">
            <a:avLst/>
          </a:prstGeom>
          <a:ln w="22225">
            <a:solidFill>
              <a:srgbClr val="5F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59368" y="150876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4232" y="155448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Distance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185623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∫|v̄|dt: 0.05 m/s deadband, 0.5 s low-pass, lead term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743200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F232B"/>
                </a:solidFill>
                <a:latin typeface="Calibri"/>
              </a:rPr>
              <a:t>Where error can enter the measurement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108960"/>
            <a:ext cx="557784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F232B"/>
                </a:solidFill>
                <a:latin typeface="Calibri"/>
              </a:rPr>
              <a:t>• Scale (multiplies everything):</a:t>
            </a:r>
            <a:r>
              <a:rPr sz="1300" b="0">
                <a:solidFill>
                  <a:srgbClr val="1F232B"/>
                </a:solidFill>
                <a:latin typeface="Calibri"/>
              </a:rPr>
              <a:t> camera height h and focal length f. A 1 mm error in h at 19 cm = 0.5 % in speed and distance.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F232B"/>
                </a:solidFill>
                <a:latin typeface="Calibri"/>
              </a:rPr>
              <a:t>• Image noise:</a:t>
            </a:r>
            <a:r>
              <a:rPr sz="1300" b="0">
                <a:solidFill>
                  <a:srgbClr val="1F232B"/>
                </a:solidFill>
                <a:latin typeface="Calibri"/>
              </a:rPr>
              <a:t> per-frame shift jitter, weighted in the filter by 1/PSR²; frames with PSR &lt; 8 are dropped.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F232B"/>
                </a:solidFill>
                <a:latin typeface="Calibri"/>
              </a:rPr>
              <a:t>• Tracking failures:</a:t>
            </a:r>
            <a:r>
              <a:rPr sz="1300" b="0">
                <a:solidFill>
                  <a:srgbClr val="1F232B"/>
                </a:solidFill>
                <a:latin typeface="Calibri"/>
              </a:rPr>
              <a:t> blur, window wrap, lock onto the sensor's fixed pattern → speed reads low or zero.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F232B"/>
                </a:solidFill>
                <a:latin typeface="Calibri"/>
              </a:rPr>
              <a:t>• Integration:</a:t>
            </a:r>
            <a:r>
              <a:rPr sz="1300" b="0">
                <a:solidFill>
                  <a:srgbClr val="1F232B"/>
                </a:solidFill>
                <a:latin typeface="Calibri"/>
              </a:rPr>
              <a:t> deadband and smoothing change how speed becomes distance.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154680"/>
            <a:ext cx="5303520" cy="30175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246120"/>
            <a:ext cx="5029200" cy="2834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1F232B"/>
                </a:solidFill>
                <a:latin typeface="Calibri"/>
              </a:rPr>
              <a:t>What counts as truth in this archive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Cart: </a:t>
            </a:r>
            <a:r>
              <a:rPr sz="1250" b="0">
                <a:solidFill>
                  <a:srgbClr val="1F232B"/>
                </a:solidFill>
                <a:latin typeface="Calibri"/>
              </a:rPr>
              <a:t>taped 16 ft (4.877 m) and 20 ft (6.096 m) courses → distance truth only, no speed-vs-time truth.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Car: </a:t>
            </a:r>
            <a:r>
              <a:rPr sz="1250" b="0">
                <a:solidFill>
                  <a:srgbClr val="1F232B"/>
                </a:solidFill>
                <a:latin typeface="Calibri"/>
              </a:rPr>
              <a:t>phone GPS Doppler speed at 1 Hz → an independent but noisy speed reference, no distance truth.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Neither </a:t>
            </a:r>
            <a:r>
              <a:rPr sz="1250" b="0">
                <a:solidFill>
                  <a:srgbClr val="1F232B"/>
                </a:solidFill>
                <a:latin typeface="Calibri"/>
              </a:rPr>
              <a:t>is a calibrated reference (no wheel encoder, no RTK). Every accuracy number in this deck inherits that limitation.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58 runs, 4 sensor streams, and clean timestamps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analysis/out/inventory_runs.csv, data_health.json, figures/story_raw_push.png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51206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600200"/>
                <a:gridCol w="228600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Stream (file)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flow.csv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240 Hz (60–120 early)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camera vₓ, v_y (m/s), PSR, h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imu.csv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100 Hz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accel (gravity removed), gyro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gnss.csv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~1 Hz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speed, speed accuracy, course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est.csv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100 Hz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filter v, σ, distance, status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events.csv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start/stop, ZUPT, calibrate…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lidar/*.csv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~30 Hz, 1.5 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36 height measurements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657600"/>
            <a:ext cx="512064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Archive:</a:t>
            </a:r>
            <a:r>
              <a:rPr sz="1250" b="0">
                <a:solidFill>
                  <a:srgbClr val="1F232B"/>
                </a:solidFill>
                <a:latin typeface="Calibri"/>
              </a:rPr>
              <a:t> 58 phone runs, 36 LiDAR logs, 21 dashboard sessions, 21 iOS crash/resource reports.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Health:</a:t>
            </a:r>
            <a:r>
              <a:rPr sz="1250" b="0">
                <a:solidFill>
                  <a:srgbClr val="1F232B"/>
                </a:solidFill>
                <a:latin typeface="Calibri"/>
              </a:rPr>
              <a:t> 0 NaN, 0 infinite values, 0 backwards timestamps; 1 duplicate flow and 3 duplicate GPS timestamps (dropped).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Replay check:</a:t>
            </a:r>
            <a:r>
              <a:rPr sz="1250" b="0">
                <a:solidFill>
                  <a:srgbClr val="1F232B"/>
                </a:solidFill>
                <a:latin typeface="Calibri"/>
              </a:rPr>
              <a:t> our Python port of the filter reproduces the phone's own est.csv on all 53 runs from 20:06 on (median max |Δv| 2e-6 m/s, worst 0.015 m/s), so we analyse exactly what ran.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Gaps:</a:t>
            </a:r>
            <a:r>
              <a:rPr sz="1250" b="0">
                <a:solidFill>
                  <a:srgbClr val="1F232B"/>
                </a:solidFill>
                <a:latin typeface="Calibri"/>
              </a:rPr>
              <a:t> camera pauses of 2.1 s during in-run height measurements; a 0.84 s camera interruption in the final car run.</a:t>
            </a:r>
          </a:p>
        </p:txBody>
      </p:sp>
      <p:pic>
        <p:nvPicPr>
          <p:cNvPr id="9" name="Picture 8" descr="story_ra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194560"/>
            <a:ext cx="60350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CHRONOLOGY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One code commit for the whole night: the run logs tell 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meta.json (focal_px, mount_height_m), flow.csv rates, ios_diagnostics/ file times; git log (5 commits)</a:t>
            </a:r>
          </a:p>
        </p:txBody>
      </p:sp>
      <p:pic>
        <p:nvPicPr>
          <p:cNvPr id="7" name="Picture 6" descr="story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43456"/>
            <a:ext cx="7863840" cy="419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463040"/>
            <a:ext cx="347472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19:34–20:31</a:t>
            </a:r>
            <a:r>
              <a:rPr sz="1200" b="0">
                <a:solidFill>
                  <a:srgbClr val="1F232B"/>
                </a:solidFill>
                <a:latin typeface="Calibri"/>
              </a:rPr>
              <a:t> Debug build: 60–120 frames/s processed; h stuck at the 0.30 m default.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20:26–21:43</a:t>
            </a:r>
            <a:r>
              <a:rPr sz="1200" b="0">
                <a:solidFill>
                  <a:srgbClr val="1F232B"/>
                </a:solidFill>
                <a:latin typeface="Calibri"/>
              </a:rPr>
              <a:t> 14 camera-daemon crash reports, all after LiDAR height measurements.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22:22–22:25</a:t>
            </a:r>
            <a:r>
              <a:rPr sz="1200" b="0">
                <a:solidFill>
                  <a:srgbClr val="1F232B"/>
                </a:solidFill>
                <a:latin typeface="Calibri"/>
              </a:rPr>
              <a:t> 16 ft pushes read +7 % → focal length ×1.073 at 22:37, then ×1.027 plus a −7.9 mm LiDAR offset from 22:54.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22:59–00:01</a:t>
            </a:r>
            <a:r>
              <a:rPr sz="1200" b="0">
                <a:solidFill>
                  <a:srgbClr val="1F232B"/>
                </a:solidFill>
                <a:latin typeface="Calibri"/>
              </a:rPr>
              <a:t> 79 cm mount and varying-ride-height experiments (both failed, see slide 9).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01:14–01:59</a:t>
            </a:r>
            <a:r>
              <a:rPr sz="1200" b="0">
                <a:solidFill>
                  <a:srgbClr val="1F232B"/>
                </a:solidFill>
                <a:latin typeface="Calibri"/>
              </a:rPr>
              <a:t> three car drives; the image-expansion height tracker drifts in drives 1–2 and is switched off for drive 3.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02:26–02:27</a:t>
            </a:r>
            <a:r>
              <a:rPr sz="1200" b="0">
                <a:solidFill>
                  <a:srgbClr val="1F232B"/>
                </a:solidFill>
                <a:latin typeface="Calibri"/>
              </a:rPr>
              <a:t> three short pushes at 0.17, 0.32 and 0.51 m with no GPS fix and no recorded course length (last runs).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PROBLEM → FIX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Problem 1: the camera died after every height measurement, and the IMU kept 'driving'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story_metrics.json; runs 2026-10-03_21-37-55, 21-34-31, 21-46-55, 21-48-05; ios_diagnostics/cameracaptured-*.ips; writeup §3.6</a:t>
            </a:r>
          </a:p>
        </p:txBody>
      </p:sp>
      <p:pic>
        <p:nvPicPr>
          <p:cNvPr id="7" name="Picture 6" descr="story_imu_run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54727"/>
            <a:ext cx="7315200" cy="239406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01000" y="1417320"/>
            <a:ext cx="1828800" cy="1143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1417320"/>
            <a:ext cx="64008" cy="11430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463040"/>
            <a:ext cx="1645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D55E00"/>
                </a:solidFill>
                <a:latin typeface="Calibri"/>
              </a:rPr>
              <a:t>15.0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965960"/>
            <a:ext cx="1645920" cy="5760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F6670"/>
                </a:solidFill>
                <a:latin typeface="Calibri"/>
              </a:rPr>
              <a:t>in 3 s with the phone at rest (21:37)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417320"/>
            <a:ext cx="1828800" cy="1143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66960" y="1417320"/>
            <a:ext cx="64008" cy="11430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04120" y="1463040"/>
            <a:ext cx="1645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D55E00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1965960"/>
            <a:ext cx="1645920" cy="5760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F6670"/>
                </a:solidFill>
                <a:latin typeface="Calibri"/>
              </a:rPr>
              <a:t>camera-daemon crash reports, 20:26–21:43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743200"/>
            <a:ext cx="1143000" cy="256032"/>
          </a:xfrm>
          <a:prstGeom prst="round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724912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crash logs + zero flow frames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5669280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Symptom:</a:t>
            </a:r>
            <a:r>
              <a:rPr sz="1250" b="0">
                <a:solidFill>
                  <a:srgbClr val="1F232B"/>
                </a:solidFill>
                <a:latin typeface="Calibri"/>
              </a:rPr>
              <a:t> no flow frames at all; IMU-only velocity integrates accelerometer bias: 19.4 m in 31 s, 15.0 m in 3 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Root cause (from crash logs):</a:t>
            </a:r>
            <a:r>
              <a:rPr sz="1250" b="0">
                <a:solidFill>
                  <a:srgbClr val="1F232B"/>
                </a:solidFill>
                <a:latin typeface="Calibri"/>
              </a:rPr>
              <a:t> LiDAR leaves the camera in a 30 fps mode; asking for 240 fps straight afterwards aborted iOS's camera service.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14800"/>
            <a:ext cx="5486400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Fix:</a:t>
            </a:r>
            <a:r>
              <a:rPr sz="1250" b="0">
                <a:solidFill>
                  <a:srgbClr val="1F232B"/>
                </a:solidFill>
                <a:latin typeface="Calibri"/>
              </a:rPr>
              <a:t> restart at 30 fps and step up to 240; watchdog restarts the camera after 1.5 s without flow; after 2 s without flow any still IMU moment forces v = 0.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Verified:</a:t>
            </a:r>
            <a:r>
              <a:rPr sz="1250" b="0">
                <a:solidFill>
                  <a:srgbClr val="1F232B"/>
                </a:solidFill>
                <a:latin typeface="Calibri"/>
              </a:rPr>
              <a:t> the next two in-run height measurements (21:46, 21:48) show a 2.1 s camera gap, then flow resumes; those runs end at 0.07 m and 0.00 m at rest. No crash reports in the archive after 21:43.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PROBLEM → FIX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Problem 2: camera tilt was counted twice, inflating speed by 61 % at 38°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git diff 379dcfd..aa0d32a DepthSource.swift; data/lidar/2026-10-03_20-26-19.csv; story_metrics.json</a:t>
            </a:r>
          </a:p>
        </p:txBody>
      </p:sp>
      <p:pic>
        <p:nvPicPr>
          <p:cNvPr id="7" name="Picture 6" descr="story_lidar_ti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8747"/>
            <a:ext cx="6035040" cy="3583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463040"/>
            <a:ext cx="1143000" cy="256032"/>
          </a:xfrm>
          <a:prstGeom prst="round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44752"/>
            <a:ext cx="3840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code diff + logged LiDAR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74519"/>
            <a:ext cx="502920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Evidence in code:</a:t>
            </a:r>
            <a:r>
              <a:rPr sz="1250" b="0">
                <a:solidFill>
                  <a:srgbClr val="1F232B"/>
                </a:solidFill>
                <a:latin typeface="Calibri"/>
              </a:rPr>
              <a:t> commit 379dcfd uses the centre depth directly as h (no cos θ); FlowConverter divides h by cos θ for tilt. Commit aa0d32a multiplies depth by cos θ once.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Evidence in data:</a:t>
            </a:r>
            <a:r>
              <a:rPr sz="1250" b="0">
                <a:solidFill>
                  <a:srgbClr val="1F232B"/>
                </a:solidFill>
                <a:latin typeface="Calibri"/>
              </a:rPr>
              <a:t> the 20:26 attempt logs depth 0.132 m at 38° tilt → vertical h 0.104 m. Under the bug, speed reads 1/cos²θ = +61 % high.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Fix:</a:t>
            </a:r>
            <a:r>
              <a:rPr sz="1250" b="0">
                <a:solidFill>
                  <a:srgbClr val="1F232B"/>
                </a:solidFill>
                <a:latin typeface="Calibri"/>
              </a:rPr>
              <a:t> convert depth to vertical height once; reject readings with &gt; 8 % frame spread, non-metric depth, or h outside 5 cm–2 m; log every frame.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Limit:</a:t>
            </a:r>
            <a:r>
              <a:rPr sz="1250" b="0">
                <a:solidFill>
                  <a:srgbClr val="1F232B"/>
                </a:solidFill>
                <a:latin typeface="Calibri"/>
              </a:rPr>
              <a:t> no recorded run used a buggy LiDAR height (all runs before 20:36 used the 0.30 m default), so there is no before/after distance for this one. The size of the bug comes from geometry plus the logged frames.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PROBLEM → FIX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Problem 3: every push read 7 % long; a 2-parameter calibration fixed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distance_calibration.json, distance_runs.csv (replay of each run with the final constants), meta.json focal_px</a:t>
            </a:r>
          </a:p>
        </p:txBody>
      </p:sp>
      <p:pic>
        <p:nvPicPr>
          <p:cNvPr id="7" name="Picture 6" descr="dist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2080"/>
            <a:ext cx="5852160" cy="3413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0" y="1417320"/>
            <a:ext cx="1691640" cy="1143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17320"/>
            <a:ext cx="64008" cy="11430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463040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D55E00"/>
                </a:solidFill>
                <a:latin typeface="Calibri"/>
              </a:rPr>
              <a:t>+6.9…+7.6 %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65960"/>
            <a:ext cx="1508760" cy="5760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F6670"/>
                </a:solidFill>
                <a:latin typeface="Calibri"/>
              </a:rPr>
              <a:t>runs 5–7, before any 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417320"/>
            <a:ext cx="1691640" cy="1143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417320"/>
            <a:ext cx="64008" cy="1143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463040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E69F00"/>
                </a:solidFill>
                <a:latin typeface="Calibri"/>
              </a:rPr>
              <a:t>−1.3…−0.6 %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965960"/>
            <a:ext cx="1508760" cy="5760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F6670"/>
                </a:solidFill>
                <a:latin typeface="Calibri"/>
              </a:rPr>
              <a:t>runs 9–11, focal ×1.073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1417320"/>
            <a:ext cx="1645920" cy="1143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0" y="1417320"/>
            <a:ext cx="64008" cy="1143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1463040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009E73"/>
                </a:solidFill>
                <a:latin typeface="Calibri"/>
              </a:rPr>
              <a:t>±0.32 %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1965960"/>
            <a:ext cx="1463040" cy="5760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F6670"/>
                </a:solidFill>
                <a:latin typeface="Calibri"/>
              </a:rPr>
              <a:t>all six, final (in-sample)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530352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Cause (supported):</a:t>
            </a:r>
            <a:r>
              <a:rPr sz="1200" b="0">
                <a:solidFill>
                  <a:srgbClr val="1F232B"/>
                </a:solidFill>
                <a:latin typeface="Calibri"/>
              </a:rPr>
              <a:t> at 240 fps iOS gives no per-frame intrinsics, so f came from the field of view; barrel distortion magnifies the image centre where the flow patch sits. Path length, net displacement and raw flow all agreed, so it was a scale error, not filtering.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Fix:</a:t>
            </a:r>
            <a:r>
              <a:rPr sz="1200" b="0">
                <a:solidFill>
                  <a:srgbClr val="1F232B"/>
                </a:solidFill>
                <a:latin typeface="Calibri"/>
              </a:rPr>
              <a:t> focal ×1.027 and LiDAR height −7.9 mm. Our independent refit gives ×1.0268 ± 0.012 and -8.0 ± 2.3 mm (correlation 0.99).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Caveat:</a:t>
            </a:r>
            <a:r>
              <a:rPr sz="1200" b="0">
                <a:solidFill>
                  <a:srgbClr val="1F232B"/>
                </a:solidFill>
                <a:latin typeface="Calibri"/>
              </a:rPr>
              <a:t> 2 parameters fitted to 2 heights force each height's mean error to 0, so ±0.32 % shows repeatability. Leave-one-out prediction is the honest figure: max ±0.54 %.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83480"/>
            <a:ext cx="57607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Focal-only fit (no height offset) leaves ±0.8 % and an error that grows with height; the offset term removes that trend.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PROBLEM → FIX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Problem 4: in the car, three failures in a row, each found in the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velocity_summary.json (filter replayed without GPS vs GPS speed), figures/vel_car_runs_timeseries.png, vel_height_tracker.png; writeup §3.13–3.16</a:t>
            </a:r>
          </a:p>
        </p:txBody>
      </p:sp>
      <p:pic>
        <p:nvPicPr>
          <p:cNvPr id="7" name="Picture 6" descr="vel_car_runs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18399"/>
            <a:ext cx="6766560" cy="504416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3716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423160"/>
                <a:gridCol w="132588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Drive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Main failure (evidence)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speed ÷ GPS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B"/>
                          </a:solidFill>
                          <a:latin typeface="Calibri"/>
                        </a:rPr>
                        <a:t>1 (01:19)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B"/>
                          </a:solidFill>
                          <a:latin typeface="Calibri"/>
                        </a:rPr>
                        <a:t>height tracker collapsed 0.17 → 0.06 m; window wrap ≈ 6 m/s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B"/>
                          </a:solidFill>
                          <a:latin typeface="Calibri"/>
                        </a:rPr>
                        <a:t>0.31 (median, 10–15 mph)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B"/>
                          </a:solidFill>
                          <a:latin typeface="Calibri"/>
                        </a:rPr>
                        <a:t>2 (01:45)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B"/>
                          </a:solidFill>
                          <a:latin typeface="Calibri"/>
                        </a:rPr>
                        <a:t>tracker drifted to 0.11 m; zero-lock at t = 163 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B"/>
                          </a:solidFill>
                          <a:latin typeface="Calibri"/>
                        </a:rPr>
                        <a:t>0.69 (median, 10–15 mph)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B"/>
                          </a:solidFill>
                          <a:latin typeface="Calibri"/>
                        </a:rPr>
                        <a:t>3 (01:59)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B"/>
                          </a:solidFill>
                          <a:latin typeface="Calibri"/>
                        </a:rPr>
                        <a:t>height fixed by LiDAR; motion prediction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B"/>
                          </a:solidFill>
                          <a:latin typeface="Calibri"/>
                        </a:rPr>
                        <a:t>0.984 (steady 4.5–5.3 m/s)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3840480"/>
            <a:ext cx="457200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1F232B"/>
                </a:solidFill>
                <a:latin typeface="Calibri"/>
              </a:rPr>
              <a:t>• Fixes:</a:t>
            </a:r>
            <a:r>
              <a:rPr sz="1150" b="0">
                <a:solidFill>
                  <a:srgbClr val="1F232B"/>
                </a:solidFill>
                <a:latin typeface="Calibri"/>
              </a:rPr>
              <a:t> motion-predicted correlation window (bench range 3 → 9 m/s); height tracking switched off; coast 24 frames before re-acquiring; weak results that jump far are rejected.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1F232B"/>
                </a:solidFill>
                <a:latin typeface="Calibri"/>
              </a:rPr>
              <a:t>• Still failing in drive 3:</a:t>
            </a:r>
            <a:r>
              <a:rPr sz="1150" b="0">
                <a:solidFill>
                  <a:srgbClr val="1F232B"/>
                </a:solidFill>
                <a:latin typeface="Calibri"/>
              </a:rPr>
              <a:t> above ~25 mph blur drops PSR to ~11; the tracker then locked onto zero and read 0 from t = 273 to 304 s while GPS said 4–6.6 m/s.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1F232B"/>
                </a:solidFill>
                <a:latin typeface="Calibri"/>
              </a:rPr>
              <a:t>• Not verified:</a:t>
            </a:r>
            <a:r>
              <a:rPr sz="1150" b="0">
                <a:solidFill>
                  <a:srgbClr val="1F232B"/>
                </a:solidFill>
                <a:latin typeface="Calibri"/>
              </a:rPr>
              <a:t> the 'fake-stop' rule meant to prevent that lock (commit ef48eaa) was never driven: the only runs recorded after it are three short pushes (02:26–02:27) with no GPS fix and no course length.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WHAT DID NOT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What failed: high mounts and changing ride height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distance_runs.csv (as recorded; these runs already used the final calibration), writeup §3.8, §3.10</a:t>
            </a:r>
          </a:p>
        </p:txBody>
      </p:sp>
      <p:pic>
        <p:nvPicPr>
          <p:cNvPr id="7" name="Picture 6" descr="dist_all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04940"/>
            <a:ext cx="7589520" cy="31737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371600"/>
            <a:ext cx="1143000" cy="256032"/>
          </a:xfrm>
          <a:prstGeom prst="round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737360"/>
            <a:ext cx="3703320" cy="4572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79 cm mount:</a:t>
            </a:r>
            <a:r>
              <a:rPr sz="1200" b="0">
                <a:solidFill>
                  <a:srgbClr val="1F232B"/>
                </a:solidFill>
                <a:latin typeface="Calibri"/>
              </a:rPr>
              <a:t> −6.6, −16.7, −15.0 %. Correction: the write-up says runs 15–17 read '15–17 % low', but run 15 (a faster push) was −6.6 %.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Static-pattern subtraction:</a:t>
            </a:r>
            <a:r>
              <a:rPr sz="1200" b="0">
                <a:solidFill>
                  <a:srgbClr val="1F232B"/>
                </a:solidFill>
                <a:latin typeface="Calibri"/>
              </a:rPr>
              <a:t> −8.4 → −0.4 % in simulation, −31.3 % on the real cart. Reverted.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Ride height changed mid-run:</a:t>
            </a:r>
            <a:r>
              <a:rPr sz="1200" b="0">
                <a:solidFill>
                  <a:srgbClr val="1F232B"/>
                </a:solidFill>
                <a:latin typeface="Calibri"/>
              </a:rPr>
              <a:t> −6.2, −13.7, −24.6 % with fixed h; image-expansion tracking gave −3.4 % once and −34 % the next run.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Hypothesis (untested):</a:t>
            </a:r>
            <a:r>
              <a:rPr sz="1200" b="0">
                <a:solidFill>
                  <a:srgbClr val="1F232B"/>
                </a:solidFill>
                <a:latin typeface="Calibri"/>
              </a:rPr>
              <a:t> at 79 cm the floor moves ~1 px/frame and static image content pulls the shift toward zero.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40680"/>
            <a:ext cx="7498079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5F6670"/>
                </a:solidFill>
                <a:latin typeface="Calibri"/>
              </a:rPr>
              <a:t>Lesson: the simulator (flowbench) was right about window wrap and blur, and wrong twice about real optics. Only fully logged runs caught that.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FINAL ESTIMATION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The final configuration (what the accuracy numbers below describe)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CameraFlowSource.swift, DepthSource.swift, GroundSpeedFilter.swift (FilterConfig), SensorFusionEngine.swift; meta.json of final 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46304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LiDAR h (once)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76479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depth·cos θ − 7.9 mm; cart still; also zeroes IMU bias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1897380"/>
            <a:ext cx="256032" cy="0"/>
          </a:xfrm>
          <a:prstGeom prst="line">
            <a:avLst/>
          </a:prstGeom>
          <a:ln w="22225">
            <a:solidFill>
              <a:srgbClr val="5F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2032" y="141732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46304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Flow 240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176479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f = FOV focal ×1.027; motion-predicted window; PSR ≥ 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25112" y="1897380"/>
            <a:ext cx="256032" cy="0"/>
          </a:xfrm>
          <a:prstGeom prst="line">
            <a:avLst/>
          </a:prstGeom>
          <a:ln w="22225">
            <a:solidFill>
              <a:srgbClr val="5F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81144" y="141732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146304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De-rotate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176479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v −= h·ω (gyro); wobble lowers PSR weight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64224" y="1897380"/>
            <a:ext cx="256032" cy="0"/>
          </a:xfrm>
          <a:prstGeom prst="line">
            <a:avLst/>
          </a:prstGeom>
          <a:ln w="22225">
            <a:solidFill>
              <a:srgbClr val="5F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20256" y="141732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46304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ReferenceKF4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76479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q_accel 0.1, q_bias 1e-5, R = 1.6e-3·(20/PSR)², gate 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03336" y="1897380"/>
            <a:ext cx="256032" cy="0"/>
          </a:xfrm>
          <a:prstGeom prst="line">
            <a:avLst/>
          </a:prstGeom>
          <a:ln w="22225">
            <a:solidFill>
              <a:srgbClr val="5F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59368" y="1417320"/>
            <a:ext cx="1783080" cy="9601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0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4232" y="1463040"/>
            <a:ext cx="16733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072B2"/>
                </a:solidFill>
                <a:latin typeface="Calibri"/>
              </a:rPr>
              <a:t>Odometer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1764792"/>
            <a:ext cx="167335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F232B"/>
                </a:solidFill>
                <a:latin typeface="Calibri"/>
              </a:rPr>
              <a:t>∫|v̄|, deadband 0.05, τ 0.5 s, lead term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2697480"/>
          <a:ext cx="11155680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017520"/>
                <a:gridCol w="3291840"/>
                <a:gridCol w="1554480"/>
              </a:tblGrid>
              <a:tr h="3383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(evidence)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fixed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Release build, 240 fps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20:36 (flow rate 69–118 → 232–240 Hz)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fewer px per frame at a given speed → higher PSR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kept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Camera restart / watchdog / ZUPT after flow loss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after 21:43 (no later crash reports)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IMU-only runaway after Measure 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kept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LiDAR tilt: depth × cos θ once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aa0d32a code diff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+61 % speed at 38° tilt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kept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Distance low-pass τ = 0.5 s + lead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21:20 (inferred from est.csv)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wobble counted as distance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kept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Focal ×1.027, LiDAR −7.9 mm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22:54 (focal_px 883.89)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+7 % scale error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kept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Image-expansion height tracking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00:00–01:45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variable ride height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OFF (failed in car)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Motion prediction, coast, relock PSR 30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01:45 and 01:59 drives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wrap at 6 m/s; zero-lock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kept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Fake-stop rule; prediction only &gt; 32 px/frame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ef48eaa, 5295780 (02:37)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zero-lock after overspeed; keeps cart path calibrated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NOT ROAD-TESTED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DISTANCE ACCURACY (REAL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Distance: about ±0.5 % on a 4.9 m course, within a narrow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distance_calibration.json, distance_runs.csv</a:t>
            </a:r>
          </a:p>
        </p:txBody>
      </p:sp>
      <p:pic>
        <p:nvPicPr>
          <p:cNvPr id="7" name="Picture 6" descr="dist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55420"/>
            <a:ext cx="5669280" cy="33070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417320"/>
          <a:ext cx="55778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55448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 (6 runs, 4.877 m)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In-sample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Leave-one-out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Bias (mean error)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−0.01 %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+0.00 %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0.21 %  (10 mm)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0.34 %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0.24 %  (12 mm)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0.41 %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SD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0.27 %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0.44 %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Max |error| (observed)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0.32 %  (16 mm)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0.54 %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95 % CI of the mean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−0.29…0.27 %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−0.47…0.47 %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95 % prediction interval, new run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−0.75…0.73 %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B"/>
                          </a:solidFill>
                          <a:latin typeface="Calibri"/>
                        </a:rPr>
                        <a:t>−1.23…1.23 %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983480"/>
            <a:ext cx="113385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Valid for:</a:t>
            </a:r>
            <a:r>
              <a:rPr sz="1250" b="0">
                <a:solidFill>
                  <a:srgbClr val="1F232B"/>
                </a:solidFill>
                <a:latin typeface="Calibri"/>
              </a:rPr>
              <a:t> indoor floor, mount 0.186–0.235 m, walking pace, straight 16 ft course. Six runs is a small sample: the SD itself has a 95 % CI of 0.17–0.65 % (in-sample).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• Not valid for:</a:t>
            </a:r>
            <a:r>
              <a:rPr sz="1250" b="0">
                <a:solidFill>
                  <a:srgbClr val="1F232B"/>
                </a:solidFill>
                <a:latin typeface="Calibri"/>
              </a:rPr>
              <a:t> 79 cm mounts (−7 to −17 %), mid-run height changes (−6 to −34 %), or the car (no distance truth there; integrated GPS agrees within +2.2 % over 306 m, but GPS is not a reference).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VELOCITY ACCURACY (REAL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Velocity: 0.63 m/s RMSE vs GPS, worst when accelerating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velocity_summary.json → final_envelope; velocity_samples_2026-10-04_01-59-42.csv; figures/vel_final_timeseries.png</a:t>
            </a:r>
          </a:p>
        </p:txBody>
      </p:sp>
      <p:pic>
        <p:nvPicPr>
          <p:cNvPr id="7" name="Picture 6" descr="vel_final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15905"/>
            <a:ext cx="6949440" cy="404331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1371600"/>
          <a:ext cx="448056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est − target (m/s)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envelope, n = 61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+0.07  [95 % CI −0.09…0.41]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0.63  [95 % CI 0.40…0.73]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MAE / SD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0.49 / 0.64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|e| p50 / p90 / p95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0.40 / 1.08 / 1.19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Max |e| (observed)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1.71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Steady (|a| &lt; 0.3 m/s²)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RMSE 0.42, n = 24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Accel / braking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RMSE 0.74, n = 37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PSR &lt; 15 (near blur limit)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bias −1.30, n = 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86400"/>
            <a:ext cx="11338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Segments:</a:t>
            </a:r>
            <a:r>
              <a:rPr sz="1200" b="0">
                <a:solidFill>
                  <a:srgbClr val="1F232B"/>
                </a:solidFill>
                <a:latin typeface="Calibri"/>
              </a:rPr>
              <a:t> cruise 4.5–5.3 m/s ratio 0.984 (RMSE 0.27); 2.6 m/s 1.24; accelerate to 8.7 m/s and brake 1.09; just before overspeed 0.87. Only ~7 effectively independent samples. Including the zero-lock failure, RMSE is 4.0 m/s.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MONTE CARLO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Monte Carlo: the real filter, real timestamps, measured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06_mc_distance.py, 07_mc_velocity.py, noise_params.json, mc_*_summary.json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20139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3977639"/>
                <a:gridCol w="118872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Derived from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Flow frame noise (per PSR band)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robust SD 7 mm/s cart, 6 mm/s car; excess kurtosis 15–25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residual vs 0.1 s median, 12.5k cart / 17.9k car frames; resampled empirically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empirical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Camera height 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SD 0.67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repeated Measure-h at an unchanged mount + 1 mm app rounding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empirical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Focal correction c, LiDAR offset δ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1.0268 ± 0.0118, -8.0 ± 2.3 mm, r = 0.99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our least-squares refit, 6 runs (covariance × residual variance)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empirical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Unexplained per-run term (distance)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0.00 %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variance matching: LiDAR + flow already explain the observed 0.33 % scatter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Slow speed error (velocity)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SD 0.50 m/s, τ = 2.9 s (Ornstein–Uhlenbeck)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GPS residuals at PSR ≥ 15 minus GPS white noise; 1 s autocorrelation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empirical, weakly constrained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GPS reference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white SD 0.16 m/s, lag 0.65 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2nd difference of the 1 Hz series; lag by cross-correlation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empirical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IMU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SD 0.062 (car), 0.046 (cart) m/s²; bias SD 0.02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ZUPT (at rest) samples; bias SD assumed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empirical + assumption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Trials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100,000 distance · 100,000 velocity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seeds 20261004, 20261011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24712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232B"/>
                </a:solidFill>
                <a:latin typeface="Calibri"/>
              </a:rPr>
              <a:t>Kept distinct: </a:t>
            </a:r>
            <a:r>
              <a:rPr sz="1250" b="0">
                <a:solidFill>
                  <a:srgbClr val="1F232B"/>
                </a:solidFill>
                <a:latin typeface="Calibri"/>
              </a:rPr>
              <a:t>TARGET (true speed or length) · MEASURED (camera flow) · ESTIMATED (Kalman output) · MONTE CARLO (distribution of estimated − target across trials). Velocity error is propagated through the filter dynamics and is time-correlated, not an independent Gaussian. Distance error comes from integrating the simulated velocity through the real odometer.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MONTE CARLO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Monte Carlo bounds (95 %): ±0.9 % on distance, ±1.0 m/s on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mc_distance_summary.json, mc_velocity_summary.json; figures/mc_dist.png, mc_vel.png</a:t>
            </a:r>
          </a:p>
        </p:txBody>
      </p:sp>
      <p:pic>
        <p:nvPicPr>
          <p:cNvPr id="7" name="Picture 6" descr="mc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03985"/>
            <a:ext cx="5943600" cy="2129790"/>
          </a:xfrm>
          <a:prstGeom prst="rect">
            <a:avLst/>
          </a:prstGeom>
        </p:spPr>
      </p:pic>
      <p:pic>
        <p:nvPicPr>
          <p:cNvPr id="8" name="Picture 7" descr="mc_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954779"/>
            <a:ext cx="5943599" cy="178307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371600"/>
          <a:ext cx="5440679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828800"/>
                <a:gridCol w="1874519"/>
              </a:tblGrid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Distance on 4.877 m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Repeat run (cal fixed)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New run (cal uncertain)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Mean error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+0.00 %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+0.00 %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SD (1σ)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0.39 %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0.44 %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95 % interval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−0.80…0.74 %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−0.88…0.84 %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99 % interval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−1.07…1.00 %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−1.17…1.11 %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|e| 95th pct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0.77 % (3.8 cm)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0.86 % (4.2 cm)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P(|e| &gt; 1 %)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1.3 %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703320"/>
          <a:ext cx="5440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65960"/>
                <a:gridCol w="1737360"/>
              </a:tblGrid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Speed, car 2–9 m/s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Instantaneous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10 s average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Bias / SD (1σ)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−0.00 / 0.50 m/s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SD 0.32 m/s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95 % interval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−0.98…0.98 m/s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|e|₉₅ 0.62 m/s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99 % interval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−1.29…1.29 m/s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|e|₉₉ 0.82 m/s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P(|e| &gt; 0.5 / 1 m/s)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32 % / 5 %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5349240"/>
            <a:ext cx="544068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5F6670"/>
                </a:solidFill>
                <a:latin typeface="Calibri"/>
              </a:rPr>
              <a:t>These are prediction (uncertainty) intervals for one new measurement, i.e. percentiles of simulated error. They are not confidence intervals of a mean. Outside the envelope (high mount, ride-height change, above 25 mph, zero-lock) they do not apply.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VALIDATING THE MONTE CARLO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Reality vs simulation: agreement where we can test it, and what dominates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mc_distance_summary.json (convergence, seeds, sensitivity, analytic), mc_velocity_summary.json; figures/mc_dist_convergence.png</a:t>
            </a:r>
          </a:p>
        </p:txBody>
      </p:sp>
      <p:pic>
        <p:nvPicPr>
          <p:cNvPr id="7" name="Picture 6" descr="mc_dis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6296"/>
            <a:ext cx="3840479" cy="251376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89120" y="1371600"/>
          <a:ext cx="7452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80360"/>
                <a:gridCol w="292608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 marL="54864" marR="54864" marT="18288" marB="18288">
                    <a:solidFill>
                      <a:srgbClr val="0072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Mean (bias)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LOO mean +0.00 % vs MC +0.00 %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real +0.19 vs MC −0.00 m/s (real 95 % CI −0.09…0.41; drift model is zero-mean)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Real vs MC spread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LOO SD 0.44 % vs MC 0.44 %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real SD 0.50 vs MC (incl. GPS noise) 0.53 m/s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Tails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worst real LOO run at MC pct 79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|e|₉₅ real 1.01 vs MC 1.03 m/s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Analytic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independent-term SD 0.43 % vs MC 0.44 %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filter's own σ (white noise only) 12 mm/s ≪ real 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Convergence / seeds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|e|₉₉ within ±0.01 % across 5 seeds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32B"/>
                          </a:solidFill>
                          <a:latin typeface="Calibri"/>
                        </a:rPr>
                        <a:t>|e|₉₉ stable across 5 seeds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023360"/>
            <a:ext cx="1133856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Distance is dominated by scale:</a:t>
            </a:r>
            <a:r>
              <a:rPr sz="1200" b="0">
                <a:solidFill>
                  <a:srgbClr val="1F232B"/>
                </a:solidFill>
                <a:latin typeface="Calibri"/>
              </a:rPr>
              <a:t> LiDAR height repeatability alone (0.33 %) explains the observed run-to-run scatter. Flow noise integrates to 0.09 % and push-profile effects to about 0.17 %. The calibration constants dominate when extrapolating: at 0.50 m the 95 % interval widens to −1.4…1.5 %.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Velocity is dominated by a slow error the data barely constrain:</a:t>
            </a:r>
            <a:r>
              <a:rPr sz="1200" b="0">
                <a:solidFill>
                  <a:srgbClr val="1F232B"/>
                </a:solidFill>
                <a:latin typeface="Calibri"/>
              </a:rPr>
              <a:t> frame noise is ~1 % and averaged away by the filter; the ±0.5 m/s, ~3 s drift (pitch/ride height, reference lag) sets the bound. A model where that error scales with speed over-predicted the real spread (0.79 vs 0.53 m/s), so the additive model is used. Frame-noise model (empirical, Gaussian, Student-t, ×3) barely moves the bounds; the drift size does: if half of it is really GPS's own error, the 95 % bound shrinks from ±0.98 to ±0.70 m/s.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F232B"/>
                </a:solidFill>
                <a:latin typeface="Calibri"/>
              </a:rPr>
              <a:t>• Circularity, stated plainly:</a:t>
            </a:r>
            <a:r>
              <a:rPr sz="1200" b="0">
                <a:solidFill>
                  <a:srgbClr val="1F232B"/>
                </a:solidFill>
                <a:latin typeface="Calibri"/>
              </a:rPr>
              <a:t> the slow-error size is fitted to the same drive it is compared with. The match in spread is built in; the matching tail (p95) and time structure are the real test.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72B2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1F232B"/>
                </a:solidFill>
                <a:latin typeface="Calibri"/>
              </a:rPr>
              <a:t>What we learned, what the sensor can claim, and what to do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F6670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F6670"/>
                </a:solidFill>
                <a:latin typeface="Calibri"/>
              </a:rPr>
              <a:t>Source: final_metrics.json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74320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" cy="132588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25603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009E73"/>
                </a:solidFill>
                <a:latin typeface="Calibri"/>
              </a:rPr>
              <a:t>±0.9 % (95 %)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560320" cy="7589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F6670"/>
                </a:solidFill>
                <a:latin typeface="Calibri"/>
              </a:rPr>
              <a:t>distance, new run, 0.19–0.24 m mount, indoor, ~5 m; observed max 0.54 % (LOO)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274320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371600"/>
            <a:ext cx="64008" cy="13258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17320"/>
            <a:ext cx="25603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0072B2"/>
                </a:solidFill>
                <a:latin typeface="Calibri"/>
              </a:rPr>
              <a:t>±1.0 m/s (95 %)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20240"/>
            <a:ext cx="2560320" cy="7589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F6670"/>
                </a:solidFill>
                <a:latin typeface="Calibri"/>
              </a:rPr>
              <a:t>instantaneous car speed 2–9 m/s; real RMSE vs GPS 0.63 m/s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371600"/>
            <a:ext cx="274320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371600"/>
            <a:ext cx="64008" cy="13258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17320"/>
            <a:ext cx="25603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0072B2"/>
                </a:solidFill>
                <a:latin typeface="Calibri"/>
              </a:rPr>
              <a:t>0.984 × GPS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2560320" cy="7589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F6670"/>
                </a:solidFill>
                <a:latin typeface="Calibri"/>
              </a:rPr>
              <a:t>best steady cruise (4.5–5.3 m/s); other segments 0.87–1.24×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371600"/>
            <a:ext cx="256032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371600"/>
            <a:ext cx="64008" cy="132588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417320"/>
            <a:ext cx="23774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D55E00"/>
                </a:solidFill>
                <a:latin typeface="Calibri"/>
              </a:rPr>
              <a:t>≈ 25 mph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20240"/>
            <a:ext cx="2377440" cy="7589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F6670"/>
                </a:solidFill>
                <a:latin typeface="Calibri"/>
              </a:rPr>
              <a:t>tracking limit at night (blur); 31 s zero-lock after overspeed; fix untested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8036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F232B"/>
                </a:solidFill>
                <a:latin typeface="Calibri"/>
              </a:rPr>
              <a:t>Lessons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46120"/>
            <a:ext cx="365760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Scale errors (h, f) mattered far more than filter tuning: 7 % and 61 %, versus ~0.1 % from frame noise.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Logging every sensor was the decisive choice: every fix here was found and checked in recorded data.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The simulator was right about window wrap and blur and wrong about real optics (twice).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88036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F232B"/>
                </a:solidFill>
                <a:latin typeface="Calibri"/>
              </a:rPr>
              <a:t>Remaining 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246120"/>
            <a:ext cx="365760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Only 6 truth runs, 2 heights, 1 floor: bounds are wide and local.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No independent speed truth: GPS has 0.65 s lag and reports 1σ ≈ 2 m/s.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Ride height is measured once; pitch/heave is unmeasured.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79 cm mounts read 7–17 % low; cause unproven. Last pushes at 0.32 and 0.51 m have no recorded course length.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88036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F232B"/>
                </a:solidFill>
                <a:latin typeface="Calibri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246120"/>
            <a:ext cx="365760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Drive the fake-stop build; repeat the 30 mph pass.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Ground truth: wheel encoder or RTK GPS, plus 20+ taped runs at 3+ heights.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Second rangefinder (or LiDAR at intervals) for live ride height.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Per-device lens calibration (checkerboard) instead of a FOV-based focal length.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32B"/>
                </a:solidFill>
                <a:latin typeface="Calibri"/>
              </a:rPr>
              <a:t>• Daylight and higher mount to push the blur limit.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